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15" y="-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/>
            </a:pPr>
            <a:r>
              <a:rPr lang="en-IN"/>
              <a:t>Revenue by Category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F6690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Fishing</c:v>
                </c:pt>
                <c:pt idx="1">
                  <c:v>Cleats</c:v>
                </c:pt>
                <c:pt idx="2">
                  <c:v>Camping &amp; Hiking</c:v>
                </c:pt>
                <c:pt idx="3">
                  <c:v>Cardio Equipment</c:v>
                </c:pt>
                <c:pt idx="4">
                  <c:v>Women's Apparel</c:v>
                </c:pt>
                <c:pt idx="5">
                  <c:v>Water Sports</c:v>
                </c:pt>
                <c:pt idx="6">
                  <c:v>Men's Footwear</c:v>
                </c:pt>
                <c:pt idx="7">
                  <c:v>Indoor/Outdoor Games</c:v>
                </c:pt>
                <c:pt idx="8">
                  <c:v>Shop By Sport</c:v>
                </c:pt>
                <c:pt idx="9">
                  <c:v>Computers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6.93</c:v>
                </c:pt>
                <c:pt idx="1">
                  <c:v>4.43</c:v>
                </c:pt>
                <c:pt idx="2">
                  <c:v>4.12</c:v>
                </c:pt>
                <c:pt idx="3">
                  <c:v>3.69</c:v>
                </c:pt>
                <c:pt idx="4">
                  <c:v>3.15</c:v>
                </c:pt>
                <c:pt idx="5">
                  <c:v>3.11</c:v>
                </c:pt>
                <c:pt idx="6">
                  <c:v>2.89</c:v>
                </c:pt>
                <c:pt idx="7">
                  <c:v>2.89</c:v>
                </c:pt>
                <c:pt idx="8">
                  <c:v>1.31</c:v>
                </c:pt>
                <c:pt idx="9">
                  <c:v>0.66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7CD-483F-8C28-4CBE64816E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/>
            </a:pPr>
            <a:r>
              <a:rPr lang="en-IN"/>
              <a:t>Revenue by Region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A7D7C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Western Europe</c:v>
                </c:pt>
                <c:pt idx="1">
                  <c:v>Central America</c:v>
                </c:pt>
                <c:pt idx="2">
                  <c:v>South America</c:v>
                </c:pt>
                <c:pt idx="3">
                  <c:v>Northern Europe</c:v>
                </c:pt>
                <c:pt idx="4">
                  <c:v>Southern Europe</c:v>
                </c:pt>
                <c:pt idx="5">
                  <c:v>Oceania</c:v>
                </c:pt>
                <c:pt idx="6">
                  <c:v>Southeast Asia</c:v>
                </c:pt>
                <c:pt idx="7">
                  <c:v>Caribbean</c:v>
                </c:pt>
                <c:pt idx="8">
                  <c:v>West of USA</c:v>
                </c:pt>
                <c:pt idx="9">
                  <c:v>South Asia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5.89</c:v>
                </c:pt>
                <c:pt idx="1">
                  <c:v>5.67</c:v>
                </c:pt>
                <c:pt idx="2">
                  <c:v>2.96</c:v>
                </c:pt>
                <c:pt idx="3">
                  <c:v>2.16</c:v>
                </c:pt>
                <c:pt idx="4">
                  <c:v>2.0499999999999998</c:v>
                </c:pt>
                <c:pt idx="5">
                  <c:v>2.02</c:v>
                </c:pt>
                <c:pt idx="6">
                  <c:v>1.93</c:v>
                </c:pt>
                <c:pt idx="7">
                  <c:v>1.65</c:v>
                </c:pt>
                <c:pt idx="8">
                  <c:v>1.57</c:v>
                </c:pt>
                <c:pt idx="9">
                  <c:v>1.55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080-484D-B69A-C2BEE362D5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/>
            </a:pPr>
            <a:r>
              <a:rPr lang="en-IN"/>
              <a:t>Late-Delivery Risk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B42318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First Class</c:v>
                </c:pt>
                <c:pt idx="1">
                  <c:v>Second Class</c:v>
                </c:pt>
                <c:pt idx="2">
                  <c:v>Same Day</c:v>
                </c:pt>
                <c:pt idx="3">
                  <c:v>Standard Class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95.32</c:v>
                </c:pt>
                <c:pt idx="1">
                  <c:v>76.63</c:v>
                </c:pt>
                <c:pt idx="2">
                  <c:v>45.74</c:v>
                </c:pt>
                <c:pt idx="3">
                  <c:v>38.07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CD9-42A2-A2C0-0D6C54A571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/>
            </a:pPr>
            <a:r>
              <a:t>Profit Margin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C56A00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No Discount</c:v>
                </c:pt>
                <c:pt idx="1">
                  <c:v>Low (1–5%)</c:v>
                </c:pt>
                <c:pt idx="2">
                  <c:v>Medium (6–10%)</c:v>
                </c:pt>
                <c:pt idx="3">
                  <c:v>High (11–20%)</c:v>
                </c:pt>
                <c:pt idx="4">
                  <c:v>Very High (21–25%)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13.09</c:v>
                </c:pt>
                <c:pt idx="1">
                  <c:v>11.42</c:v>
                </c:pt>
                <c:pt idx="2">
                  <c:v>11.54</c:v>
                </c:pt>
                <c:pt idx="3">
                  <c:v>10.16</c:v>
                </c:pt>
                <c:pt idx="4">
                  <c:v>9.0299999999999994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3A2-481E-B937-B4F41FC93E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/>
            </a:pPr>
            <a:r>
              <a:rPr lang="en-IN"/>
              <a:t>Annual Revenue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F669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12.408300000000001</c:v>
                </c:pt>
                <c:pt idx="1">
                  <c:v>12.308299999999999</c:v>
                </c:pt>
                <c:pt idx="2">
                  <c:v>11.808400000000001</c:v>
                </c:pt>
                <c:pt idx="3">
                  <c:v>0.33169999999999999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DED-4A1A-ABEA-23B11A904F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/>
            </a:pPr>
            <a:r>
              <a:rPr lang="en-US"/>
              <a:t>Revenue by Customer Segment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A7D7C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19.059999999999999</c:v>
                </c:pt>
                <c:pt idx="1">
                  <c:v>11.17</c:v>
                </c:pt>
                <c:pt idx="2">
                  <c:v>6.52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84-48F8-93E2-D0B7792C2F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Supply Chain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240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9E2E8"/>
                </a:solidFill>
              </a:defRPr>
            </a:pPr>
            <a:r>
              <a:t>Business Performance, Delivery &amp; Profitability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DataCo Smart Supply Chain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703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9E2E8"/>
                </a:solidFill>
              </a:defRPr>
            </a:pPr>
            <a:r>
              <a:rPr dirty="0"/>
              <a:t>180,519 records • 54 analytical fields • 2015–Jan 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709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Python  |  PostgreSQL  |  Excel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</a:defRPr>
            </a:pPr>
            <a:r>
              <a:t>Project Objective &amp; Analytical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690"/>
                </a:solidFill>
              </a:defRPr>
            </a:pPr>
            <a:r>
              <a:t>Business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Understand revenue and profitability performance.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Identify major product, category, regional and customer drivers.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Evaluate delivery performance and late-delivery risk.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Assess discounting and profit-margin relationships.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Build a management-ready Excel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690"/>
                </a:solidFill>
              </a:defRPr>
            </a:pPr>
            <a:r>
              <a:t>Tool-wise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28800"/>
            <a:ext cx="4800600" cy="822960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63640" y="1828800"/>
            <a:ext cx="64008" cy="822960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526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53521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rPr dirty="0"/>
              <a:t>Cleaning, validation &amp; feature 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834640"/>
            <a:ext cx="4800600" cy="822960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2834640"/>
            <a:ext cx="64008" cy="822960"/>
          </a:xfrm>
          <a:prstGeom prst="rect">
            <a:avLst/>
          </a:prstGeom>
          <a:solidFill>
            <a:srgbClr val="3A7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971800"/>
            <a:ext cx="4526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24612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Business questions, KPIs &amp; SQL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40480"/>
            <a:ext cx="4800600" cy="822960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3840480"/>
            <a:ext cx="64008" cy="822960"/>
          </a:xfrm>
          <a:prstGeom prst="rect">
            <a:avLst/>
          </a:prstGeom>
          <a:solidFill>
            <a:srgbClr val="C5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977640"/>
            <a:ext cx="4526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5196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PivotTables, charts &amp; dashboard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D9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0" y="65653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</a:defRPr>
            </a:pPr>
            <a:r>
              <a:t>Data Preparation &amp;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690"/>
                </a:solidFill>
              </a:defRPr>
            </a:pPr>
            <a:r>
              <a:t>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Original dataset: 180,519 rows × 53 columns.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Removed 8 irrelevant/private fields.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Standardized column names to lowercase snake_case.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Converted order and shipping dates to datetime.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Created shipping_delay, order_year, month, quarter and profit_margin.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Created delivery_flag and discount_band.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34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690"/>
                </a:solidFill>
              </a:defRPr>
            </a:pPr>
            <a:r>
              <a:t>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4663440" cy="566928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63640" y="1645920"/>
            <a:ext cx="64008" cy="566928"/>
          </a:xfrm>
          <a:prstGeom prst="rect">
            <a:avLst/>
          </a:prstGeom>
          <a:solidFill>
            <a:srgbClr val="3A7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Final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8249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180,519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395728"/>
            <a:ext cx="4663440" cy="566928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2395728"/>
            <a:ext cx="64008" cy="566928"/>
          </a:xfrm>
          <a:prstGeom prst="rect">
            <a:avLst/>
          </a:prstGeom>
          <a:solidFill>
            <a:srgbClr val="3A7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53288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Final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3300" y="247802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54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145536"/>
            <a:ext cx="4663440" cy="566928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3145536"/>
            <a:ext cx="64008" cy="566928"/>
          </a:xfrm>
          <a:prstGeom prst="rect">
            <a:avLst/>
          </a:prstGeom>
          <a:solidFill>
            <a:srgbClr val="3A7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328269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Duplicate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3300" y="3229356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95344"/>
            <a:ext cx="4663440" cy="566928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895344"/>
            <a:ext cx="64008" cy="566928"/>
          </a:xfrm>
          <a:prstGeom prst="rect">
            <a:avLst/>
          </a:prstGeom>
          <a:solidFill>
            <a:srgbClr val="C5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403250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Missing 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94868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rPr dirty="0"/>
              <a:t>3 </a:t>
            </a:r>
            <a:r>
              <a:rPr dirty="0" err="1"/>
              <a:t>customer_zipcode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6263640" y="4645152"/>
            <a:ext cx="4663440" cy="566928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4645152"/>
            <a:ext cx="64008" cy="566928"/>
          </a:xfrm>
          <a:prstGeom prst="rect">
            <a:avLst/>
          </a:prstGeom>
          <a:solidFill>
            <a:srgbClr val="C5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478231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Late-risk field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3300" y="467258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0 /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D9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0" y="65653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</a:defRPr>
            </a:pPr>
            <a:r>
              <a:t>Executive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Overall results from 65,752 distinct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057400" cy="960120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960120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63039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Total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65,752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325880"/>
            <a:ext cx="2057400" cy="960120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71800" y="1325880"/>
            <a:ext cx="64008" cy="960120"/>
          </a:xfrm>
          <a:prstGeom prst="rect">
            <a:avLst/>
          </a:prstGeom>
          <a:solidFill>
            <a:srgbClr val="3A7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1463039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73736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$36.78M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325880"/>
            <a:ext cx="2057400" cy="960120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257800" y="1325880"/>
            <a:ext cx="64008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40680" y="1463039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Profit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73736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$3.97M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325880"/>
            <a:ext cx="2057400" cy="960120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1325880"/>
            <a:ext cx="64008" cy="960120"/>
          </a:xfrm>
          <a:prstGeom prst="rect">
            <a:avLst/>
          </a:prstGeom>
          <a:solidFill>
            <a:srgbClr val="C5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79" y="1463039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Profit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173736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10.78%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606040"/>
            <a:ext cx="2057400" cy="960120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2606040"/>
            <a:ext cx="64008" cy="960120"/>
          </a:xfrm>
          <a:prstGeom prst="rect">
            <a:avLst/>
          </a:prstGeom>
          <a:solidFill>
            <a:srgbClr val="2F66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274320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Units Sold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0175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384,079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2606040"/>
            <a:ext cx="2057400" cy="960120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971800" y="2606040"/>
            <a:ext cx="64008" cy="960120"/>
          </a:xfrm>
          <a:prstGeom prst="rect">
            <a:avLst/>
          </a:prstGeom>
          <a:solidFill>
            <a:srgbClr val="3A7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54680" y="274320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Average Order Value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0175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$559.45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57800" y="2606040"/>
            <a:ext cx="2057400" cy="960120"/>
          </a:xfrm>
          <a:prstGeom prst="roundRect">
            <a:avLst/>
          </a:prstGeom>
          <a:solidFill>
            <a:srgbClr val="F3F6F8"/>
          </a:solidFill>
          <a:ln>
            <a:solidFill>
              <a:srgbClr val="D9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257800" y="2606040"/>
            <a:ext cx="64008" cy="9601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40680" y="274320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7085"/>
                </a:solidFill>
              </a:defRPr>
            </a:pPr>
            <a:r>
              <a:t>Late-Delivery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301752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324F"/>
                </a:solidFill>
              </a:defRPr>
            </a:pPr>
            <a:r>
              <a:t>54.83%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690"/>
                </a:solidFill>
              </a:defRPr>
            </a:pPr>
            <a:r>
              <a:t>Headline takeaway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2628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3"/>
                </a:solidFill>
              </a:defRPr>
            </a:pPr>
            <a:r>
              <a:t>$36.78M revenue and $3.97M profit produced a 10.78% overall margin. The dataset shows 54.83% late-delivery risk at the order-item record level.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D9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72800" y="65653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</a:defRPr>
            </a:pPr>
            <a:r>
              <a:t>Category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Top 10 categories by revenue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143000"/>
          <a:ext cx="6675120" cy="507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4380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690"/>
                </a:solidFill>
              </a:defRPr>
            </a:pPr>
            <a: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783080"/>
            <a:ext cx="39776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Fishing: $6.93M revenue and $756K profit.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Cleats: $4.43M revenue and $495K profit.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Camping &amp; Hiking and Cardio Equipment each exceeded $3.6M revenue.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Major category margins were relatively close, around 9.9%–11.2%.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D9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</a:defRPr>
            </a:pPr>
            <a:r>
              <a:t>Regional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Revenue concentration across major regions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143000"/>
          <a:ext cx="6583680" cy="5074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5236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690"/>
                </a:solidFill>
              </a:defRPr>
            </a:pPr>
            <a: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783080"/>
            <a:ext cx="4023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Western Europe: $5.89M revenue and $625K profit.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Central America: $5.67M revenue and $616K profit.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South America: $2.96M revenue with 11.32% margin.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Major regions had broadly similar average shipping delays.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D9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</a:defRPr>
            </a:pPr>
            <a:r>
              <a:t>Delivery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Dataset-defined late-delivery risk by shipping mode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234440"/>
          <a:ext cx="64008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60920" y="1325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690"/>
                </a:solidFill>
              </a:defRPr>
            </a:pPr>
            <a:r>
              <a:t>Operational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783080"/>
            <a:ext cx="4069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Overall late-delivery risk: 54.83%.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Standard Class: 38.07% late-risk and ~0 days average calculated delay.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First Class: 95.32% late-risk with 2.00 days average shipping time.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Same Day had the shortest average shipping time at 0.48 days.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This is descriptive analysis; it does not establish causation.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D9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</a:defRPr>
            </a:pPr>
            <a:r>
              <a:t>Discounting &amp;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Profit margin by discount band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34440"/>
          <a:ext cx="64008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60920" y="13258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690"/>
                </a:solidFill>
              </a:defRPr>
            </a:pPr>
            <a:r>
              <a:t>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78308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No Discount: 13.09% margin.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High discounts (11–20%): $14.31M revenue and $1.45M profit.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Very High discounts (21–25%): lowest margin at 9.03%.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Higher discount bands are associated with lower margins in this dataset.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D9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</a:defRPr>
            </a:pPr>
            <a:r>
              <a:t>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</a:defRPr>
            </a:pPr>
            <a:r>
              <a:t>Annual summary of the monthly revenue analysis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2588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4380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690"/>
                </a:solidFill>
              </a:defRPr>
            </a:pPr>
            <a:r>
              <a:t>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182880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2015: $12.41M revenue.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2016: $12.31M revenue.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2017: $11.81M revenue.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2018 contains only January and is not comparable as a full year.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Full-year revenue was relatively stable from 2015–2017.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D9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5653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</a:defRPr>
            </a:pPr>
            <a:r>
              <a:t>Customer Segment Performance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234440"/>
          <a:ext cx="64008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0" y="1325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690"/>
                </a:solidFill>
              </a:defRPr>
            </a:pPr>
            <a: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783080"/>
            <a:ext cx="4023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Consumer: $19.06M revenue and $2.07M profit.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Corporate: $11.17M revenue and $1.20M profit.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Home Office: $6.52M revenue and $691K profit.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Corporate had the highest average order value at $562.47.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t>• Segment differences are driven more by order volume than AOV.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D9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0" y="65653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</a:defRPr>
            </a:pPr>
            <a:r>
              <a:t>Key Business Insights &amp; Areas for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</a:defRPr>
            </a:pPr>
            <a:r>
              <a:t>Protect high-value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23444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</a:defRPr>
            </a:pPr>
            <a:r>
              <a:t>Fishing and Cleats are major contributors to revenue and absolute profit; monitor availability, pricing and fulfillment.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</a:defRPr>
            </a:pPr>
            <a:r>
              <a:t>Investigate delivery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</a:defRPr>
            </a:pPr>
            <a:r>
              <a:t>Late-delivery risk is 54.83% overall, with substantial differences across shipping modes.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</a:defRPr>
            </a:pPr>
            <a:r>
              <a:t>Review discount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15468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</a:defRPr>
            </a:pPr>
            <a:r>
              <a:t>Very high discounts are associated with the lowest margin (9.03%); evaluate discount thresholds.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</a:defRPr>
            </a:pPr>
            <a:r>
              <a:t>Focus regional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148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</a:defRPr>
            </a:pPr>
            <a:r>
              <a:t>Western Europe and Central America are major revenue contributors and merit operational monitoring.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324F"/>
                </a:solidFill>
              </a:defRPr>
            </a:pPr>
            <a:r>
              <a:t>Track complete periods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07492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</a:defRPr>
            </a:pPr>
            <a:r>
              <a:t>Use monthly trend monitoring, while avoiding full-year comparisons for partial 2018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D9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0" y="65653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9E2E8"/>
                </a:solidFill>
              </a:defRPr>
            </a:pPr>
            <a:r>
              <a:t>An end-to-end analytics workflow transformed the raw supply-chain dataset into validated data, SQL-driven business insights and an Excel management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9E2E8"/>
                </a:solidFill>
              </a:defRPr>
            </a:pPr>
            <a:r>
              <a:t>Python / Pandas  •  PostgreSQL / SQL  •  Excel / PivotTables / Charts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Project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54880"/>
            <a:ext cx="10058400" cy="64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10 core SQL business questions translated into decision-ready insights.</a:t>
            </a:r>
          </a:p>
          <a:p>
            <a:pPr>
              <a:spcAft>
                <a:spcPts val="700"/>
              </a:spcAft>
              <a:defRPr sz="1500">
                <a:solidFill>
                  <a:srgbClr val="1F2933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Dashboard covers KPIs, category, regional, delivery, discount and customer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D9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0" y="65653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7085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821</Words>
  <Application>Microsoft Office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Thrishik Shetty</dc:creator>
  <cp:keywords/>
  <dc:description>generated using python-pptx</dc:description>
  <cp:lastModifiedBy>Thrishik Shetty</cp:lastModifiedBy>
  <cp:revision>2</cp:revision>
  <dcterms:created xsi:type="dcterms:W3CDTF">2013-01-27T09:14:16Z</dcterms:created>
  <dcterms:modified xsi:type="dcterms:W3CDTF">2026-09-20T16:00:58Z</dcterms:modified>
  <cp:category/>
</cp:coreProperties>
</file>